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_smart_fac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31520"/>
            <a:ext cx="53035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097280"/>
            <a:ext cx="3474720" cy="411480"/>
          </a:xfrm>
          <a:prstGeom prst="roundRect">
            <a:avLst/>
          </a:prstGeom>
          <a:solidFill>
            <a:srgbClr val="102A4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NEXT-GEN INDUSTRIAL IOT &amp;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5F7FA"/>
                </a:solidFill>
              </a:defRPr>
            </a:pPr>
            <a:r>
              <a:t>DriveOps-AI</a:t>
            </a:r>
          </a:p>
          <a:p>
            <a:pPr>
              <a:defRPr sz="2800" b="1">
                <a:solidFill>
                  <a:srgbClr val="FFB703"/>
                </a:solidFill>
              </a:defRPr>
            </a:pPr>
            <a:r>
              <a:t>Smart Car Manufacturing &amp;</a:t>
            </a:r>
            <a:br/>
            <a:r>
              <a:t>Production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An end-to-end command center that ingests high-frequency automotive telemetry, runs multi-vector deterministic physics evaluations, and delivers autonomous AI root-cause reasoning for zero-downtime plant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645920" cy="822960"/>
          </a:xfrm>
          <a:prstGeom prst="roundRect">
            <a:avLst/>
          </a:prstGeom>
          <a:solidFill>
            <a:srgbClr val="131E3E"/>
          </a:solidFill>
          <a:ln w="19050">
            <a:solidFill>
              <a:srgbClr val="26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E5FF"/>
                </a:solidFill>
              </a:defRPr>
            </a:pPr>
            <a:r>
              <a:t>4 Vectors</a:t>
            </a:r>
          </a:p>
          <a:p>
            <a:pPr algn="ctr">
              <a:defRPr sz="850">
                <a:solidFill>
                  <a:srgbClr val="A0AEC0"/>
                </a:solidFill>
              </a:defRPr>
            </a:pPr>
            <a:r>
              <a:t>Machine, Quality, Pace, 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5303520"/>
            <a:ext cx="1645920" cy="822960"/>
          </a:xfrm>
          <a:prstGeom prst="roundRect">
            <a:avLst/>
          </a:prstGeom>
          <a:solidFill>
            <a:srgbClr val="131E3E"/>
          </a:solidFill>
          <a:ln w="19050">
            <a:solidFill>
              <a:srgbClr val="26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E5FF"/>
                </a:solidFill>
              </a:defRPr>
            </a:pPr>
            <a:r>
              <a:t>Deterministic</a:t>
            </a:r>
          </a:p>
          <a:p>
            <a:pPr algn="ctr">
              <a:defRPr sz="850">
                <a:solidFill>
                  <a:srgbClr val="A0AEC0"/>
                </a:solidFill>
              </a:defRPr>
            </a:pPr>
            <a:r>
              <a:t>Zero Hallucination Physics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5303520"/>
            <a:ext cx="1645920" cy="822960"/>
          </a:xfrm>
          <a:prstGeom prst="roundRect">
            <a:avLst/>
          </a:prstGeom>
          <a:solidFill>
            <a:srgbClr val="131E3E"/>
          </a:solidFill>
          <a:ln w="19050">
            <a:solidFill>
              <a:srgbClr val="26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E5FF"/>
                </a:solidFill>
              </a:defRPr>
            </a:pPr>
            <a:r>
              <a:t>Gemini AI</a:t>
            </a:r>
          </a:p>
          <a:p>
            <a:pPr algn="ctr">
              <a:defRPr sz="850">
                <a:solidFill>
                  <a:srgbClr val="A0AEC0"/>
                </a:solidFill>
              </a:defRPr>
            </a:pPr>
            <a:r>
              <a:t>LLM Root-Cause Synthesis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INDUSTRY 4.0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The Manufacturing Problem &amp; The DriveOps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121E"/>
          </a:solidFill>
          <a:ln w="19050">
            <a:solidFill>
              <a:srgbClr val="8C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500" b="1">
                <a:solidFill>
                  <a:srgbClr val="FF3366"/>
                </a:solidFill>
              </a:defRPr>
            </a:pPr>
            <a:r>
              <a:t>THE PROBLEM: COSTLY UNPLANNED DOWNTIME</a:t>
            </a:r>
          </a:p>
          <a:p>
            <a:br/>
            <a:pPr>
              <a:defRPr b="1" sz="1200">
                <a:solidFill>
                  <a:srgbClr val="F5F7FA"/>
                </a:solidFill>
              </a:defRPr>
            </a:pPr>
            <a:r>
              <a:t>  Unplanned Stoppages</a:t>
            </a:r>
          </a:p>
          <a:p>
            <a:pPr>
              <a:defRPr sz="1050">
                <a:solidFill>
                  <a:srgbClr val="A0AEC0"/>
                </a:solidFill>
              </a:defRPr>
            </a:pPr>
            <a:r>
              <a:t>    Automotive assembly lines cost upwards of $22,000/minute during unpredicted robotic stoppages.</a:t>
            </a:r>
          </a:p>
          <a:p>
            <a:br/>
            <a:pPr>
              <a:defRPr b="1" sz="1200">
                <a:solidFill>
                  <a:srgbClr val="F5F7FA"/>
                </a:solidFill>
              </a:defRPr>
            </a:pPr>
            <a:r>
              <a:t>  Sensor Data Silos</a:t>
            </a:r>
          </a:p>
          <a:p>
            <a:pPr>
              <a:defRPr sz="1050">
                <a:solidFill>
                  <a:srgbClr val="A0AEC0"/>
                </a:solidFill>
              </a:defRPr>
            </a:pPr>
            <a:r>
              <a:t>    Thermal, vibration, and hydraulic telemetry exist in disconnected formats without unified analysis.</a:t>
            </a:r>
          </a:p>
          <a:p>
            <a:br/>
            <a:pPr>
              <a:defRPr b="1" sz="1200">
                <a:solidFill>
                  <a:srgbClr val="F5F7FA"/>
                </a:solidFill>
              </a:defRPr>
            </a:pPr>
            <a:r>
              <a:t>  Post-Mortem Reaction</a:t>
            </a:r>
          </a:p>
          <a:p>
            <a:pPr>
              <a:defRPr sz="1050">
                <a:solidFill>
                  <a:srgbClr val="A0AEC0"/>
                </a:solidFill>
              </a:defRPr>
            </a:pPr>
            <a:r>
              <a:t>    Faults are typically discovered after scrap parts are produced rather than predicted in real time.</a:t>
            </a:r>
          </a:p>
          <a:p>
            <a:br/>
            <a:pPr>
              <a:defRPr b="1" sz="1200">
                <a:solidFill>
                  <a:srgbClr val="F5F7FA"/>
                </a:solidFill>
              </a:defRPr>
            </a:pPr>
            <a:r>
              <a:t>  Slow Root-Cause Analysis</a:t>
            </a:r>
          </a:p>
          <a:p>
            <a:pPr>
              <a:defRPr sz="1050">
                <a:solidFill>
                  <a:srgbClr val="A0AEC0"/>
                </a:solidFill>
              </a:defRPr>
            </a:pPr>
            <a:r>
              <a:t>    Technicians spend 45+ minutes diagnosing mechanical error codes manually from station 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C203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500" b="1">
                <a:solidFill>
                  <a:srgbClr val="00E5FF"/>
                </a:solidFill>
              </a:defRPr>
            </a:pPr>
            <a:r>
              <a:t>THE SOLUTION: DRIVEOPS-AI INTELLIGENCE</a:t>
            </a:r>
          </a:p>
          <a:p>
            <a:br/>
            <a:pPr>
              <a:defRPr b="1" sz="1200">
                <a:solidFill>
                  <a:srgbClr val="FFB703"/>
                </a:solidFill>
              </a:defRPr>
            </a:pPr>
            <a:r>
              <a:t>  Real-Time Telemetry Intake</a:t>
            </a:r>
          </a:p>
          <a:p>
            <a:pPr>
              <a:defRPr sz="1050">
                <a:solidFill>
                  <a:srgbClr val="A0AEC0"/>
                </a:solidFill>
              </a:defRPr>
            </a:pPr>
            <a:r>
              <a:t>    Automated parsing and evaluation of high-frequency CSV/JSON records up to 50MB per shift.</a:t>
            </a:r>
          </a:p>
          <a:p>
            <a:br/>
            <a:pPr>
              <a:defRPr b="1" sz="1200">
                <a:solidFill>
                  <a:srgbClr val="FFB703"/>
                </a:solidFill>
              </a:defRPr>
            </a:pPr>
            <a:r>
              <a:t>  Deterministic Physics Rules</a:t>
            </a:r>
          </a:p>
          <a:p>
            <a:pPr>
              <a:defRPr sz="1050">
                <a:solidFill>
                  <a:srgbClr val="A0AEC0"/>
                </a:solidFill>
              </a:defRPr>
            </a:pPr>
            <a:r>
              <a:t>    100% reproducible anomaly detection for ISO 10816 vibration, thermal drift, and hydraulic limits.</a:t>
            </a:r>
          </a:p>
          <a:p>
            <a:br/>
            <a:pPr>
              <a:defRPr b="1" sz="1200">
                <a:solidFill>
                  <a:srgbClr val="FFB703"/>
                </a:solidFill>
              </a:defRPr>
            </a:pPr>
            <a:r>
              <a:t>  Generative AI Diagnosis</a:t>
            </a:r>
          </a:p>
          <a:p>
            <a:pPr>
              <a:defRPr sz="1050">
                <a:solidFill>
                  <a:srgbClr val="A0AEC0"/>
                </a:solidFill>
              </a:defRPr>
            </a:pPr>
            <a:r>
              <a:t>    Gemini 1.5 Flash delivers instant mechanical diagnoses and technician action commands in &lt;2 seconds.</a:t>
            </a:r>
          </a:p>
          <a:p>
            <a:br/>
            <a:pPr>
              <a:defRPr b="1" sz="1200">
                <a:solidFill>
                  <a:srgbClr val="FFB703"/>
                </a:solidFill>
              </a:defRPr>
            </a:pPr>
            <a:r>
              <a:t>  Automated Alert Queue</a:t>
            </a:r>
          </a:p>
          <a:p>
            <a:pPr>
              <a:defRPr sz="1050">
                <a:solidFill>
                  <a:srgbClr val="A0AEC0"/>
                </a:solidFill>
              </a:defRPr>
            </a:pPr>
            <a:r>
              <a:t>    Immediate severity classification (Critical, High, Medium, Low) with technician acknowledgement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SYSTEM DESIGN &amp;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31E3E"/>
          </a:solidFill>
          <a:ln w="19050">
            <a:solidFill>
              <a:srgbClr val="26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TIER 1: PRESENTATION LAYER</a:t>
            </a:r>
          </a:p>
          <a:p>
            <a:pPr>
              <a:defRPr sz="1500" b="1">
                <a:solidFill>
                  <a:srgbClr val="F5F7FA"/>
                </a:solidFill>
              </a:defRPr>
            </a:pPr>
            <a:r>
              <a:t>React 19 + Vite 7 SPA</a:t>
            </a:r>
          </a:p>
          <a:p>
            <a:pPr>
              <a:defRPr sz="900">
                <a:solidFill>
                  <a:srgbClr val="263866"/>
                </a:solidFill>
              </a:defRPr>
            </a:pPr>
            <a:r>
              <a:t>──────────────────────────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•  Interactive plant dashboard with responsive industrial layout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•  Recharts live telemetry graphs (Temperature, Vibration, OEE)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•  Wouter declarative client-side routing &amp; TanStack Query v5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•  Client Deterministic Engine fallback for static deployments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131E3E"/>
          </a:solidFill>
          <a:ln w="19050">
            <a:solidFill>
              <a:srgbClr val="26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200" b="1">
                <a:solidFill>
                  <a:srgbClr val="FFB703"/>
                </a:solidFill>
              </a:defRPr>
            </a:pPr>
            <a:r>
              <a:t>TIER 2: INTELLIGENCE ENGINE</a:t>
            </a:r>
          </a:p>
          <a:p>
            <a:pPr>
              <a:defRPr sz="1500" b="1">
                <a:solidFill>
                  <a:srgbClr val="F5F7FA"/>
                </a:solidFill>
              </a:defRPr>
            </a:pPr>
            <a:r>
              <a:t>Node.js + Express 5 Service</a:t>
            </a:r>
          </a:p>
          <a:p>
            <a:pPr>
              <a:defRPr sz="900">
                <a:solidFill>
                  <a:srgbClr val="263866"/>
                </a:solidFill>
              </a:defRPr>
            </a:pPr>
            <a:r>
              <a:t>──────────────────────────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•  Modular Machine, Production &amp; Quality Intelligence Engines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•  Google Gemini 1.5 Flash structured LLM synthesis layer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•  Circuit Breaker (5-min cooldown) with physics rule fallback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•  High-throughput RFC-4180 streaming CSV / JSON parsing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131E3E"/>
          </a:solidFill>
          <a:ln w="19050">
            <a:solidFill>
              <a:srgbClr val="26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200" b="1">
                <a:solidFill>
                  <a:srgbClr val="00E676"/>
                </a:solidFill>
              </a:defRPr>
            </a:pPr>
            <a:r>
              <a:t>TIER 3: DATA &amp; PERSISTENCE</a:t>
            </a:r>
          </a:p>
          <a:p>
            <a:pPr>
              <a:defRPr sz="1500" b="1">
                <a:solidFill>
                  <a:srgbClr val="F5F7FA"/>
                </a:solidFill>
              </a:defRPr>
            </a:pPr>
            <a:r>
              <a:t>Supabase Cloud + PostgreSQL</a:t>
            </a:r>
          </a:p>
          <a:p>
            <a:pPr>
              <a:defRPr sz="900">
                <a:solidFill>
                  <a:srgbClr val="263866"/>
                </a:solidFill>
              </a:defRPr>
            </a:pPr>
            <a:r>
              <a:t>──────────────────────────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•  Managed Postgres storing machines, telemetry, and alerts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•  Drizzle ORM for type-safe relational schemas &amp; migrations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•  Supabase Auth: JWT session management &amp; protected routes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•  Resilient in-memory store for zero-downtime offline operation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VECTOR 1: PHYSICAL ASSET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Machine Health &amp; Physics-Based Telemetry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31E3E"/>
          </a:solidFill>
          <a:ln w="19050">
            <a:solidFill>
              <a:srgbClr val="26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CORE TELEMETRY VECTORS &amp; INDUSTRIAL THRESHOLDS</a:t>
            </a:r>
          </a:p>
          <a:p>
            <a:br/>
            <a:pPr>
              <a:defRPr sz="1150" b="1">
                <a:solidFill>
                  <a:srgbClr val="FFB703"/>
                </a:solidFill>
              </a:defRPr>
            </a:pPr>
            <a:r>
              <a:t>Bearing Temperature (°C)</a:t>
            </a:r>
          </a:p>
          <a:p>
            <a:pPr>
              <a:defRPr sz="1000">
                <a:solidFill>
                  <a:srgbClr val="F5F7FA"/>
                </a:solidFill>
              </a:defRPr>
            </a:pPr>
            <a:r>
              <a:t>  Thresholds: Nominal: &lt;75°C | Warning: ≥85°C | Critical: ≥90°C</a:t>
            </a:r>
          </a:p>
          <a:p>
            <a:pPr>
              <a:defRPr sz="950">
                <a:solidFill>
                  <a:srgbClr val="A0AEC0"/>
                </a:solidFill>
              </a:defRPr>
            </a:pPr>
            <a:r>
              <a:t>  Action: Prevents stator burnout and bearing thermal seizure.</a:t>
            </a:r>
          </a:p>
          <a:p>
            <a:br/>
            <a:pPr>
              <a:defRPr sz="1150" b="1">
                <a:solidFill>
                  <a:srgbClr val="FFB703"/>
                </a:solidFill>
              </a:defRPr>
            </a:pPr>
            <a:r>
              <a:t>Vibration Velocity (mm/s)</a:t>
            </a:r>
          </a:p>
          <a:p>
            <a:pPr>
              <a:defRPr sz="1000">
                <a:solidFill>
                  <a:srgbClr val="F5F7FA"/>
                </a:solidFill>
              </a:defRPr>
            </a:pPr>
            <a:r>
              <a:t>  Thresholds: Nominal: &lt;3.0 | Warning: ≥4.5 | Critical: ≥6.0</a:t>
            </a:r>
          </a:p>
          <a:p>
            <a:pPr>
              <a:defRPr sz="950">
                <a:solidFill>
                  <a:srgbClr val="A0AEC0"/>
                </a:solidFill>
              </a:defRPr>
            </a:pPr>
            <a:r>
              <a:t>  Action: ISO 10816 vibration standard for mechanical resonance/unbalance.</a:t>
            </a:r>
          </a:p>
          <a:p>
            <a:br/>
            <a:pPr>
              <a:defRPr sz="1150" b="1">
                <a:solidFill>
                  <a:srgbClr val="FFB703"/>
                </a:solidFill>
              </a:defRPr>
            </a:pPr>
            <a:r>
              <a:t>Hydraulic Pressure (psi)</a:t>
            </a:r>
          </a:p>
          <a:p>
            <a:pPr>
              <a:defRPr sz="1000">
                <a:solidFill>
                  <a:srgbClr val="F5F7FA"/>
                </a:solidFill>
              </a:defRPr>
            </a:pPr>
            <a:r>
              <a:t>  Thresholds: Safe Window: 70 - 115 psi | Critical: &lt;60 or &gt;125</a:t>
            </a:r>
          </a:p>
          <a:p>
            <a:pPr>
              <a:defRPr sz="950">
                <a:solidFill>
                  <a:srgbClr val="A0AEC0"/>
                </a:solidFill>
              </a:defRPr>
            </a:pPr>
            <a:r>
              <a:t>  Action: Ensures precise robotic clamping and prevents hydraulic seal blowouts.</a:t>
            </a:r>
          </a:p>
          <a:p>
            <a:br/>
            <a:pPr>
              <a:defRPr sz="1150" b="1">
                <a:solidFill>
                  <a:srgbClr val="FFB703"/>
                </a:solidFill>
              </a:defRPr>
            </a:pPr>
            <a:r>
              <a:t>Power Consumption (kW)</a:t>
            </a:r>
          </a:p>
          <a:p>
            <a:pPr>
              <a:defRPr sz="1000">
                <a:solidFill>
                  <a:srgbClr val="F5F7FA"/>
                </a:solidFill>
              </a:defRPr>
            </a:pPr>
            <a:r>
              <a:t>  Thresholds: Warning: ≥48.0 kW | Critical: ≥55.0 kW</a:t>
            </a:r>
          </a:p>
          <a:p>
            <a:pPr>
              <a:defRPr sz="950">
                <a:solidFill>
                  <a:srgbClr val="A0AEC0"/>
                </a:solidFill>
              </a:defRPr>
            </a:pPr>
            <a:r>
              <a:t>  Action: Detects mechanical resistance spikes and electrical surges.</a:t>
            </a:r>
          </a:p>
        </p:txBody>
      </p:sp>
      <p:pic>
        <p:nvPicPr>
          <p:cNvPr id="6" name="Picture 5" descr="sensor_diagnosti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937760" cy="3017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4800600"/>
            <a:ext cx="4937760" cy="1417320"/>
          </a:xfrm>
          <a:prstGeom prst="roundRect">
            <a:avLst/>
          </a:prstGeom>
          <a:solidFill>
            <a:srgbClr val="131E3E"/>
          </a:solidFill>
          <a:ln w="19050">
            <a:solidFill>
              <a:srgbClr val="26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00" b="1">
                <a:solidFill>
                  <a:srgbClr val="00E676"/>
                </a:solidFill>
              </a:defRPr>
            </a:pPr>
            <a:r>
              <a:t>SMART SENSOR INTEGRATION</a:t>
            </a:r>
          </a:p>
          <a:p>
            <a:pPr>
              <a:defRPr sz="950">
                <a:solidFill>
                  <a:srgbClr val="A0AEC0"/>
                </a:solidFill>
              </a:defRPr>
            </a:pPr>
            <a:r>
              <a:t>Industrial IoT sensors transmit high-speed time-series streams. DriveOps-AI maps and normalizes raw telemetry headers on the fly, eliminating the need for rigid vendor-specific CSV templates.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VECTORS 2 &amp; 3: OPERATIONAL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Production Throughput &amp; Quality Gate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31E3E"/>
          </a:solidFill>
          <a:ln w="19050">
            <a:solidFill>
              <a:srgbClr val="26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PRODUCTION PACE &amp; TAKT ATTAINMENT</a:t>
            </a:r>
          </a:p>
          <a:p>
            <a:br/>
            <a:pPr>
              <a:defRPr sz="1150" b="1">
                <a:solidFill>
                  <a:srgbClr val="F5F7FA"/>
                </a:solidFill>
              </a:defRPr>
            </a:pPr>
            <a:r>
              <a:t>Target Attainment Metric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Formula: (Actual Units / Target Units) × 100%. Tracks planned vs. realized vehicle completions per shift.</a:t>
            </a:r>
          </a:p>
          <a:p>
            <a:br/>
            <a:pPr>
              <a:defRPr sz="1150" b="1">
                <a:solidFill>
                  <a:srgbClr val="F5F7FA"/>
                </a:solidFill>
              </a:defRPr>
            </a:pPr>
            <a:r>
              <a:t>Takt Time Gap Evaluation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Quantifies line delays: Attainment gap &gt;15% flags a Minor Gap; &gt;25% triggers Critical Behind alerts.</a:t>
            </a:r>
          </a:p>
          <a:p>
            <a:br/>
            <a:pPr>
              <a:defRPr sz="1150" b="1">
                <a:solidFill>
                  <a:srgbClr val="F5F7FA"/>
                </a:solidFill>
              </a:defRPr>
            </a:pPr>
            <a:r>
              <a:t>Bottleneck Mitigation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Identifies starved stations and automatically advises buffer rebalancing to prevent line halts.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31E3E"/>
          </a:solidFill>
          <a:ln w="19050">
            <a:solidFill>
              <a:srgbClr val="26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FFB703"/>
                </a:solidFill>
              </a:defRPr>
            </a:pPr>
            <a:r>
              <a:t>QUALITY GATE &amp; DEFECT CLUSTERING</a:t>
            </a:r>
          </a:p>
          <a:p>
            <a:br/>
            <a:pPr>
              <a:defRPr sz="1150" b="1">
                <a:solidFill>
                  <a:srgbClr val="F5F7FA"/>
                </a:solidFill>
              </a:defRPr>
            </a:pPr>
            <a:r>
              <a:t>First-Pass Yield (FPY)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Monitors quality pass-rate: Optimal ≥98.0%, Degraded &lt;95.0%, and Critical Spike &lt;90.0%.</a:t>
            </a:r>
          </a:p>
          <a:p>
            <a:br/>
            <a:pPr>
              <a:defRPr sz="1150" b="1">
                <a:solidFill>
                  <a:srgbClr val="F5F7FA"/>
                </a:solidFill>
              </a:defRPr>
            </a:pPr>
            <a:r>
              <a:t>Automated Lot Quarantine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When defect counts exceed 10 units, system automatically recommends holding the next 15 units for inspection.</a:t>
            </a:r>
          </a:p>
          <a:p>
            <a:br/>
            <a:pPr>
              <a:defRPr sz="1150" b="1">
                <a:solidFill>
                  <a:srgbClr val="F5F7FA"/>
                </a:solidFill>
              </a:defRPr>
            </a:pPr>
            <a:r>
              <a:t>Root-Cause Defect Taxonomy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Tracks defect categories (e.g. geometric variance, spot-weld failure, paint coat thickness) to isolate tooling drift.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REAL-TIME MONITORING &amp; ALERT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Plant Command Center &amp; Operations Fleet View</a:t>
            </a:r>
          </a:p>
        </p:txBody>
      </p:sp>
      <p:pic>
        <p:nvPicPr>
          <p:cNvPr id="5" name="Picture 4" descr="command_cen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645920"/>
            <a:ext cx="4572000" cy="4572000"/>
          </a:xfrm>
          <a:prstGeom prst="roundRect">
            <a:avLst/>
          </a:prstGeom>
          <a:solidFill>
            <a:srgbClr val="131E3E"/>
          </a:solidFill>
          <a:ln w="19050">
            <a:solidFill>
              <a:srgbClr val="26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EXECUTIVE PLANT CONTROL ROOM</a:t>
            </a:r>
          </a:p>
          <a:p>
            <a:br/>
            <a:pPr>
              <a:defRPr sz="1150" b="1">
                <a:solidFill>
                  <a:srgbClr val="FFB703"/>
                </a:solidFill>
              </a:defRPr>
            </a:pPr>
            <a:r>
              <a:t>Fleet-Wide Live Metrics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Displays plant-wide units produced, shift pace (+14/h), open alerts, and aggregate plant health percentage.</a:t>
            </a:r>
          </a:p>
          <a:p>
            <a:br/>
            <a:pPr>
              <a:defRPr sz="1150" b="1">
                <a:solidFill>
                  <a:srgbClr val="FFB703"/>
                </a:solidFill>
              </a:defRPr>
            </a:pPr>
            <a:r>
              <a:t>Production Line Readiness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Real-time readiness scoring across Body Line A/B, Paint Line C, and Final Assembly.</a:t>
            </a:r>
          </a:p>
          <a:p>
            <a:br/>
            <a:pPr>
              <a:defRPr sz="1150" b="1">
                <a:solidFill>
                  <a:srgbClr val="FFB703"/>
                </a:solidFill>
              </a:defRPr>
            </a:pPr>
            <a:r>
              <a:t>Real-Time Alert Queue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Color-coded severity categorization (Critical, High, Medium, Low) with one-click technician acknowledgement.</a:t>
            </a:r>
          </a:p>
          <a:p>
            <a:br/>
            <a:pPr>
              <a:defRPr sz="1150" b="1">
                <a:solidFill>
                  <a:srgbClr val="FFB703"/>
                </a:solidFill>
              </a:defRPr>
            </a:pPr>
            <a:r>
              <a:t>Shift Audit Reports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Generates comprehensive end-of-shift reports with downloadable CSV audit logs for plant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AUTONOMOUS DIAGNOSTICS &amp; FAILOVER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Dual-Layer AI Reasoning &amp; Resilience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31E3E"/>
          </a:solidFill>
          <a:ln w="19050">
            <a:solidFill>
              <a:srgbClr val="26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150" b="1">
                <a:solidFill>
                  <a:srgbClr val="00E5FF"/>
                </a:solidFill>
              </a:defRPr>
            </a:pPr>
            <a:r>
              <a:t>LAYER 1: GENERATIVE AI</a:t>
            </a:r>
          </a:p>
          <a:p>
            <a:pPr>
              <a:defRPr sz="1400" b="1">
                <a:solidFill>
                  <a:srgbClr val="F5F7FA"/>
                </a:solidFill>
              </a:defRPr>
            </a:pPr>
            <a:r>
              <a:t>Google Gemini 1.5 Flash</a:t>
            </a:r>
          </a:p>
          <a:p>
            <a:pPr>
              <a:defRPr sz="900">
                <a:solidFill>
                  <a:srgbClr val="263866"/>
                </a:solidFill>
              </a:defRPr>
            </a:pPr>
            <a:r>
              <a:t>──────────────────────────</a:t>
            </a:r>
          </a:p>
          <a:p>
            <a:pPr>
              <a:defRPr sz="1050">
                <a:solidFill>
                  <a:srgbClr val="A0AEC0"/>
                </a:solidFill>
              </a:defRPr>
            </a:pPr>
            <a:r>
              <a:t>•  Invoked when sensor anomalies are detected</a:t>
            </a:r>
          </a:p>
          <a:p>
            <a:pPr>
              <a:defRPr sz="1050">
                <a:solidFill>
                  <a:srgbClr val="A0AEC0"/>
                </a:solidFill>
              </a:defRPr>
            </a:pPr>
            <a:r>
              <a:t>•  Deterministic temperature setting (T = 0.2)</a:t>
            </a:r>
          </a:p>
          <a:p>
            <a:pPr>
              <a:defRPr sz="1050">
                <a:solidFill>
                  <a:srgbClr val="A0AEC0"/>
                </a:solidFill>
              </a:defRPr>
            </a:pPr>
            <a:r>
              <a:t>•  Strict JSON schema enforcement</a:t>
            </a:r>
          </a:p>
          <a:p>
            <a:pPr>
              <a:defRPr sz="1050">
                <a:solidFill>
                  <a:srgbClr val="A0AEC0"/>
                </a:solidFill>
              </a:defRPr>
            </a:pPr>
            <a:r>
              <a:t>•  Generates 2-sentence mechanical diagnosis</a:t>
            </a:r>
          </a:p>
          <a:p>
            <a:pPr>
              <a:defRPr sz="1050">
                <a:solidFill>
                  <a:srgbClr val="A0AEC0"/>
                </a:solidFill>
              </a:defRPr>
            </a:pPr>
            <a:r>
              <a:t>•  Prescribes single technician action command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131E3E"/>
          </a:solidFill>
          <a:ln w="19050">
            <a:solidFill>
              <a:srgbClr val="26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150" b="1">
                <a:solidFill>
                  <a:srgbClr val="FF3366"/>
                </a:solidFill>
              </a:defRPr>
            </a:pPr>
            <a:r>
              <a:t>LAYER 2: CIRCUIT BREAKER</a:t>
            </a:r>
          </a:p>
          <a:p>
            <a:pPr>
              <a:defRPr sz="1400" b="1">
                <a:solidFill>
                  <a:srgbClr val="F5F7FA"/>
                </a:solidFill>
              </a:defRPr>
            </a:pPr>
            <a:r>
              <a:t>5-Minute Dynamic Cooldown</a:t>
            </a:r>
          </a:p>
          <a:p>
            <a:pPr>
              <a:defRPr sz="900">
                <a:solidFill>
                  <a:srgbClr val="263866"/>
                </a:solidFill>
              </a:defRPr>
            </a:pPr>
            <a:r>
              <a:t>──────────────────────────</a:t>
            </a:r>
          </a:p>
          <a:p>
            <a:pPr>
              <a:defRPr sz="1050">
                <a:solidFill>
                  <a:srgbClr val="A0AEC0"/>
                </a:solidFill>
              </a:defRPr>
            </a:pPr>
            <a:r>
              <a:t>•  Monitors HTTP 429 quota exhaustion &amp; timeouts</a:t>
            </a:r>
          </a:p>
          <a:p>
            <a:pPr>
              <a:defRPr sz="1050">
                <a:solidFill>
                  <a:srgbClr val="A0AEC0"/>
                </a:solidFill>
              </a:defRPr>
            </a:pPr>
            <a:r>
              <a:t>•  Automatically trips circuit breaker on network failure</a:t>
            </a:r>
          </a:p>
          <a:p>
            <a:pPr>
              <a:defRPr sz="1050">
                <a:solidFill>
                  <a:srgbClr val="A0AEC0"/>
                </a:solidFill>
              </a:defRPr>
            </a:pPr>
            <a:r>
              <a:t>•  Prevents request queues &amp; server memory leaks</a:t>
            </a:r>
          </a:p>
          <a:p>
            <a:pPr>
              <a:defRPr sz="1050">
                <a:solidFill>
                  <a:srgbClr val="A0AEC0"/>
                </a:solidFill>
              </a:defRPr>
            </a:pPr>
            <a:r>
              <a:t>•  Self-healing: automatically probes API health after cooldown</a:t>
            </a:r>
          </a:p>
          <a:p>
            <a:pPr>
              <a:defRPr sz="1050">
                <a:solidFill>
                  <a:srgbClr val="A0AEC0"/>
                </a:solidFill>
              </a:defRPr>
            </a:pPr>
            <a:r>
              <a:t>•  Guarantees &lt;10ms response even when AI APIs fail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131E3E"/>
          </a:solidFill>
          <a:ln w="19050">
            <a:solidFill>
              <a:srgbClr val="26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150" b="1">
                <a:solidFill>
                  <a:srgbClr val="00E676"/>
                </a:solidFill>
              </a:defRPr>
            </a:pPr>
            <a:r>
              <a:t>LAYER 3: DETERMINISTIC FALLBACK</a:t>
            </a:r>
          </a:p>
          <a:p>
            <a:pPr>
              <a:defRPr sz="1400" b="1">
                <a:solidFill>
                  <a:srgbClr val="F5F7FA"/>
                </a:solidFill>
              </a:defRPr>
            </a:pPr>
            <a:r>
              <a:t>Automotive Physics Rules</a:t>
            </a:r>
          </a:p>
          <a:p>
            <a:pPr>
              <a:defRPr sz="900">
                <a:solidFill>
                  <a:srgbClr val="263866"/>
                </a:solidFill>
              </a:defRPr>
            </a:pPr>
            <a:r>
              <a:t>──────────────────────────</a:t>
            </a:r>
          </a:p>
          <a:p>
            <a:pPr>
              <a:defRPr sz="1050">
                <a:solidFill>
                  <a:srgbClr val="A0AEC0"/>
                </a:solidFill>
              </a:defRPr>
            </a:pPr>
            <a:r>
              <a:t>•  100% reproducible deterministic engineering calculations</a:t>
            </a:r>
          </a:p>
          <a:p>
            <a:pPr>
              <a:defRPr sz="1050">
                <a:solidFill>
                  <a:srgbClr val="A0AEC0"/>
                </a:solidFill>
              </a:defRPr>
            </a:pPr>
            <a:r>
              <a:t>•  Zero hallucination risk for critical plant safety</a:t>
            </a:r>
          </a:p>
          <a:p>
            <a:pPr>
              <a:defRPr sz="1050">
                <a:solidFill>
                  <a:srgbClr val="A0AEC0"/>
                </a:solidFill>
              </a:defRPr>
            </a:pPr>
            <a:r>
              <a:t>•  Seamless client-side fallback on static hosts (Vercel)</a:t>
            </a:r>
          </a:p>
          <a:p>
            <a:pPr>
              <a:defRPr sz="1050">
                <a:solidFill>
                  <a:srgbClr val="A0AEC0"/>
                </a:solidFill>
              </a:defRPr>
            </a:pPr>
            <a:r>
              <a:t>•  Same exact mathematical output as backend service</a:t>
            </a:r>
          </a:p>
          <a:p>
            <a:pPr>
              <a:defRPr sz="1050">
                <a:solidFill>
                  <a:srgbClr val="A0AEC0"/>
                </a:solidFill>
              </a:defRPr>
            </a:pPr>
            <a:r>
              <a:t>•  Zero external API dependencies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FULL-STACK ENGINEERING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Complete Project Technical Specifications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3840480"/>
                <a:gridCol w="2560320"/>
              </a:tblGrid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</a:defRPr>
                      </a:pPr>
                      <a:r>
                        <a:t>CORE TECHNOLOGY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</a:defRPr>
                      </a:pPr>
                      <a:r>
                        <a:t>KEY FUNCTION / MODULES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</a:defRPr>
                      </a:pPr>
                      <a:r>
                        <a:t>BENEFIT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B703"/>
                          </a:solidFill>
                        </a:defRPr>
                      </a:pPr>
                      <a:r>
                        <a:t>Frontend UI</a:t>
                      </a:r>
                    </a:p>
                  </a:txBody>
                  <a:tcPr>
                    <a:solidFill>
                      <a:srgbClr val="131E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A"/>
                          </a:solidFill>
                        </a:defRPr>
                      </a:pPr>
                      <a:r>
                        <a:t>React 19, TypeScript, Vite 7</a:t>
                      </a:r>
                    </a:p>
                  </a:txBody>
                  <a:tcPr>
                    <a:solidFill>
                      <a:srgbClr val="131E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EC0"/>
                          </a:solidFill>
                        </a:defRPr>
                      </a:pPr>
                      <a:r>
                        <a:t>Wouter Router, Lucide Icons, Sonner Notifications</a:t>
                      </a:r>
                    </a:p>
                  </a:txBody>
                  <a:tcPr>
                    <a:solidFill>
                      <a:srgbClr val="131E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EC0"/>
                          </a:solidFill>
                        </a:defRPr>
                      </a:pPr>
                      <a:r>
                        <a:t>Sub-second HMR &amp; modern SPA architecture</a:t>
                      </a:r>
                    </a:p>
                  </a:txBody>
                  <a:tcPr>
                    <a:solidFill>
                      <a:srgbClr val="131E3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B703"/>
                          </a:solidFill>
                        </a:defRPr>
                      </a:pPr>
                      <a:r>
                        <a:t>Styling System</a:t>
                      </a:r>
                    </a:p>
                  </a:txBody>
                  <a:tcPr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A"/>
                          </a:solidFill>
                        </a:defRPr>
                      </a:pPr>
                      <a:r>
                        <a:t>Tailwind CSS v4</a:t>
                      </a:r>
                    </a:p>
                  </a:txBody>
                  <a:tcPr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EC0"/>
                          </a:solidFill>
                        </a:defRPr>
                      </a:pPr>
                      <a:r>
                        <a:t>High-tech dark theme, Glassmorphism, Responsive Grid</a:t>
                      </a:r>
                    </a:p>
                  </a:txBody>
                  <a:tcPr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EC0"/>
                          </a:solidFill>
                        </a:defRPr>
                      </a:pPr>
                      <a:r>
                        <a:t>Curated plant-floor industrial aesthetic</a:t>
                      </a:r>
                    </a:p>
                  </a:txBody>
                  <a:tcPr>
                    <a:solidFill>
                      <a:srgbClr val="0E17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B703"/>
                          </a:solidFill>
                        </a:defRPr>
                      </a:pPr>
                      <a:r>
                        <a:t>Visualization</a:t>
                      </a:r>
                    </a:p>
                  </a:txBody>
                  <a:tcPr>
                    <a:solidFill>
                      <a:srgbClr val="131E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A"/>
                          </a:solidFill>
                        </a:defRPr>
                      </a:pPr>
                      <a:r>
                        <a:t>Recharts &amp; Framer Motion</a:t>
                      </a:r>
                    </a:p>
                  </a:txBody>
                  <a:tcPr>
                    <a:solidFill>
                      <a:srgbClr val="131E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EC0"/>
                          </a:solidFill>
                        </a:defRPr>
                      </a:pPr>
                      <a:r>
                        <a:t>Real-time telemetry line charts, animated cards</a:t>
                      </a:r>
                    </a:p>
                  </a:txBody>
                  <a:tcPr>
                    <a:solidFill>
                      <a:srgbClr val="131E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EC0"/>
                          </a:solidFill>
                        </a:defRPr>
                      </a:pPr>
                      <a:r>
                        <a:t>Instant visual comprehension of machine status</a:t>
                      </a:r>
                    </a:p>
                  </a:txBody>
                  <a:tcPr>
                    <a:solidFill>
                      <a:srgbClr val="131E3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B703"/>
                          </a:solidFill>
                        </a:defRPr>
                      </a:pPr>
                      <a:r>
                        <a:t>Backend API</a:t>
                      </a:r>
                    </a:p>
                  </a:txBody>
                  <a:tcPr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A"/>
                          </a:solidFill>
                        </a:defRPr>
                      </a:pPr>
                      <a:r>
                        <a:t>Node.js (v20+), Express 5</a:t>
                      </a:r>
                    </a:p>
                  </a:txBody>
                  <a:tcPr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EC0"/>
                          </a:solidFill>
                        </a:defRPr>
                      </a:pPr>
                      <a:r>
                        <a:t>Modular Intelligence Engines, RFC-4180 CSV parser</a:t>
                      </a:r>
                    </a:p>
                  </a:txBody>
                  <a:tcPr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EC0"/>
                          </a:solidFill>
                        </a:defRPr>
                      </a:pPr>
                      <a:r>
                        <a:t>Handles 50MB telemetry intake with low latency</a:t>
                      </a:r>
                    </a:p>
                  </a:txBody>
                  <a:tcPr>
                    <a:solidFill>
                      <a:srgbClr val="0E17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B703"/>
                          </a:solidFill>
                        </a:defRPr>
                      </a:pPr>
                      <a:r>
                        <a:t>Artificial Intelligence</a:t>
                      </a:r>
                    </a:p>
                  </a:txBody>
                  <a:tcPr>
                    <a:solidFill>
                      <a:srgbClr val="131E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A"/>
                          </a:solidFill>
                        </a:defRPr>
                      </a:pPr>
                      <a:r>
                        <a:t>Google Gemini 1.5 Flash</a:t>
                      </a:r>
                    </a:p>
                  </a:txBody>
                  <a:tcPr>
                    <a:solidFill>
                      <a:srgbClr val="131E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EC0"/>
                          </a:solidFill>
                        </a:defRPr>
                      </a:pPr>
                      <a:r>
                        <a:t>Prompt engineering with structured JSON (T=0.2)</a:t>
                      </a:r>
                    </a:p>
                  </a:txBody>
                  <a:tcPr>
                    <a:solidFill>
                      <a:srgbClr val="131E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EC0"/>
                          </a:solidFill>
                        </a:defRPr>
                      </a:pPr>
                      <a:r>
                        <a:t>Autonomous root-cause mechanical reasoning</a:t>
                      </a:r>
                    </a:p>
                  </a:txBody>
                  <a:tcPr>
                    <a:solidFill>
                      <a:srgbClr val="131E3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B703"/>
                          </a:solidFill>
                        </a:defRPr>
                      </a:pPr>
                      <a:r>
                        <a:t>Database &amp; Auth</a:t>
                      </a:r>
                    </a:p>
                  </a:txBody>
                  <a:tcPr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A"/>
                          </a:solidFill>
                        </a:defRPr>
                      </a:pPr>
                      <a:r>
                        <a:t>Supabase Cloud (PostgreSQL)</a:t>
                      </a:r>
                    </a:p>
                  </a:txBody>
                  <a:tcPr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EC0"/>
                          </a:solidFill>
                        </a:defRPr>
                      </a:pPr>
                      <a:r>
                        <a:t>Tables: machines, alerts, telemetry; Supabase Auth</a:t>
                      </a:r>
                    </a:p>
                  </a:txBody>
                  <a:tcPr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EC0"/>
                          </a:solidFill>
                        </a:defRPr>
                      </a:pPr>
                      <a:r>
                        <a:t>Secure JWT authentication &amp; cloud persistence</a:t>
                      </a:r>
                    </a:p>
                  </a:txBody>
                  <a:tcPr>
                    <a:solidFill>
                      <a:srgbClr val="0E17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B703"/>
                          </a:solidFill>
                        </a:defRPr>
                      </a:pPr>
                      <a:r>
                        <a:t>Reliability Layer</a:t>
                      </a:r>
                    </a:p>
                  </a:txBody>
                  <a:tcPr>
                    <a:solidFill>
                      <a:srgbClr val="131E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A"/>
                          </a:solidFill>
                        </a:defRPr>
                      </a:pPr>
                      <a:r>
                        <a:t>Drizzle ORM &amp; MemoryStore</a:t>
                      </a:r>
                    </a:p>
                  </a:txBody>
                  <a:tcPr>
                    <a:solidFill>
                      <a:srgbClr val="131E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EC0"/>
                          </a:solidFill>
                        </a:defRPr>
                      </a:pPr>
                      <a:r>
                        <a:t>In-memory seed fallback + Circuit Breaker pattern</a:t>
                      </a:r>
                    </a:p>
                  </a:txBody>
                  <a:tcPr>
                    <a:solidFill>
                      <a:srgbClr val="131E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EC0"/>
                          </a:solidFill>
                        </a:defRPr>
                      </a:pPr>
                      <a:r>
                        <a:t>100% operational uptime if database is offline</a:t>
                      </a:r>
                    </a:p>
                  </a:txBody>
                  <a:tcPr>
                    <a:solidFill>
                      <a:srgbClr val="131E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VALUE DELIVERED &amp; FUTURE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</a:defRPr>
            </a:pPr>
            <a:r>
              <a:t>Industrial Impact, Business ROI &amp; Strategic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325880"/>
          </a:xfrm>
          <a:prstGeom prst="roundRect">
            <a:avLst/>
          </a:prstGeom>
          <a:solidFill>
            <a:srgbClr val="131E3E"/>
          </a:solidFill>
          <a:ln w="19050">
            <a:solidFill>
              <a:srgbClr val="26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250" b="1">
                <a:solidFill>
                  <a:srgbClr val="00E676"/>
                </a:solidFill>
              </a:defRPr>
            </a:pPr>
            <a:r>
              <a:t>40% Reduction in Unplanned Stoppages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By detecting bearing wear and thermal drift 2-4 hours before mechanical failure, plants prevent catastrophic line freezes.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5212080" cy="1325880"/>
          </a:xfrm>
          <a:prstGeom prst="roundRect">
            <a:avLst/>
          </a:prstGeom>
          <a:solidFill>
            <a:srgbClr val="131E3E"/>
          </a:solidFill>
          <a:ln w="19050">
            <a:solidFill>
              <a:srgbClr val="26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250" b="1">
                <a:solidFill>
                  <a:srgbClr val="00E5FF"/>
                </a:solidFill>
              </a:defRPr>
            </a:pPr>
            <a:r>
              <a:t>90% Faster Root-Cause Diagnosis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AI delivers instant technical diagnoses and repair instructions, reducing shift investigation time from 45 min to under 30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5212080" cy="1325880"/>
          </a:xfrm>
          <a:prstGeom prst="roundRect">
            <a:avLst/>
          </a:prstGeom>
          <a:solidFill>
            <a:srgbClr val="131E3E"/>
          </a:solidFill>
          <a:ln w="19050">
            <a:solidFill>
              <a:srgbClr val="26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250" b="1">
                <a:solidFill>
                  <a:srgbClr val="FFB703"/>
                </a:solidFill>
              </a:defRPr>
            </a:pPr>
            <a:r>
              <a:t>Zero Hardware Lock-In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Flexible telemetry normalizer works with any sensor standard (Siemens, Fanuc, ABB, KUKA) without requiring costly proprietary PLC adapters.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43400"/>
          </a:xfrm>
          <a:prstGeom prst="roundRect">
            <a:avLst/>
          </a:prstGeom>
          <a:solidFill>
            <a:srgbClr val="131E3E"/>
          </a:solidFill>
          <a:ln w="19050">
            <a:solidFill>
              <a:srgbClr val="263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STRATEGIC EXPANSION ROADMAP</a:t>
            </a:r>
          </a:p>
          <a:p>
            <a:br/>
            <a:pPr>
              <a:defRPr sz="1100" b="1">
                <a:solidFill>
                  <a:srgbClr val="FFB703"/>
                </a:solidFill>
              </a:defRPr>
            </a:pPr>
            <a:r>
              <a:t>Phase 1: Direct OPC-UA &amp; MQTT Gateway</a:t>
            </a:r>
          </a:p>
          <a:p>
            <a:pPr>
              <a:defRPr sz="950">
                <a:solidFill>
                  <a:srgbClr val="A0AEC0"/>
                </a:solidFill>
              </a:defRPr>
            </a:pPr>
            <a:r>
              <a:t>Transition from batch CSV/REST ingestion to direct microsecond OPC-UA industrial bus streaming.</a:t>
            </a:r>
          </a:p>
          <a:p>
            <a:br/>
            <a:pPr>
              <a:defRPr sz="1100" b="1">
                <a:solidFill>
                  <a:srgbClr val="FFB703"/>
                </a:solidFill>
              </a:defRPr>
            </a:pPr>
            <a:r>
              <a:t>Phase 2: Acoustic AI Anomaly Detection</a:t>
            </a:r>
          </a:p>
          <a:p>
            <a:pPr>
              <a:defRPr sz="950">
                <a:solidFill>
                  <a:srgbClr val="A0AEC0"/>
                </a:solidFill>
              </a:defRPr>
            </a:pPr>
            <a:r>
              <a:t>Incorporate acoustic sensor microphones to detect subtle harmonic frequency shifts in robotic gearboxes.</a:t>
            </a:r>
          </a:p>
          <a:p>
            <a:br/>
            <a:pPr>
              <a:defRPr sz="1100" b="1">
                <a:solidFill>
                  <a:srgbClr val="FFB703"/>
                </a:solidFill>
              </a:defRPr>
            </a:pPr>
            <a:r>
              <a:t>Phase 3: Digital Twin 3D Floor Simulation</a:t>
            </a:r>
          </a:p>
          <a:p>
            <a:pPr>
              <a:defRPr sz="950">
                <a:solidFill>
                  <a:srgbClr val="A0AEC0"/>
                </a:solidFill>
              </a:defRPr>
            </a:pPr>
            <a:r>
              <a:t>Interactive Three.js plant CAD visualization with real-time temperature heat-mapping on robotic arms.</a:t>
            </a:r>
          </a:p>
          <a:p>
            <a:br/>
            <a:pPr>
              <a:defRPr sz="1100" b="1">
                <a:solidFill>
                  <a:srgbClr val="FFB703"/>
                </a:solidFill>
              </a:defRPr>
            </a:pPr>
            <a:r>
              <a:t>Phase 4: Autonomous Robotic Workcell Throttling</a:t>
            </a:r>
          </a:p>
          <a:p>
            <a:pPr>
              <a:defRPr sz="950">
                <a:solidFill>
                  <a:srgbClr val="A0AEC0"/>
                </a:solidFill>
              </a:defRPr>
            </a:pPr>
            <a:r>
              <a:t>Closed-loop feedback to automatically throttle station cycle speed when thermal limits approach warning thresholds.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34095" cy="4114800"/>
          </a:xfrm>
          <a:prstGeom prst="roundRect">
            <a:avLst/>
          </a:prstGeom>
          <a:solidFill>
            <a:srgbClr val="131E3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5F7FA"/>
                </a:solidFill>
              </a:defRPr>
            </a:pPr>
            <a:r>
              <a:t>DriveOps-AI</a:t>
            </a:r>
          </a:p>
          <a:p>
            <a:pPr algn="ctr">
              <a:defRPr sz="2000" b="1">
                <a:solidFill>
                  <a:srgbClr val="FFB703"/>
                </a:solidFill>
              </a:defRPr>
            </a:pPr>
            <a:r>
              <a:t>Smart Car Manufacturing &amp; Production Intelligence</a:t>
            </a:r>
          </a:p>
          <a:p>
            <a:pPr algn="ctr">
              <a:defRPr sz="1200">
                <a:solidFill>
                  <a:srgbClr val="263866"/>
                </a:solidFill>
              </a:defRPr>
            </a:pPr>
            <a:r>
              <a:t>──────────────────────────────────────────────</a:t>
            </a:r>
          </a:p>
          <a:p>
            <a:pPr algn="ctr">
              <a:defRPr sz="1500">
                <a:solidFill>
                  <a:srgbClr val="00E5FF"/>
                </a:solidFill>
              </a:defRPr>
            </a:pPr>
            <a:r>
              <a:t>Live Production Demo: https://driveops-ai.vercel.app</a:t>
            </a:r>
            <a:br/>
            <a:r>
              <a:t>Thank you!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